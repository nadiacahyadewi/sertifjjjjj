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Pembahasan Soal Sertifikasi</a:t>
            </a:r>
          </a:p>
        </p:txBody>
      </p:sp>
      <p:sp>
        <p:nvSpPr>
          <p:cNvPr id="3" name="Subtitle 2"/>
          <p:cNvSpPr>
            <a:spLocks noGrp="1"/>
          </p:cNvSpPr>
          <p:nvPr>
            <p:ph type="subTitle" idx="1"/>
          </p:nvPr>
        </p:nvSpPr>
        <p:spPr/>
        <p:txBody>
          <a:bodyPr/>
          <a:lstStyle/>
          <a:p>
            <a:r>
              <a:t>Bagian 1 (Soal 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1: Struktur Data Stack</a:t>
            </a:r>
          </a:p>
        </p:txBody>
      </p:sp>
      <p:pic>
        <p:nvPicPr>
          <p:cNvPr id="3" name="Picture 2" descr="1.jp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1: Struktur Data Stack</a:t>
            </a:r>
          </a:p>
        </p:txBody>
      </p:sp>
      <p:pic>
        <p:nvPicPr>
          <p:cNvPr id="3" name="Picture 2" descr="1.jpg"/>
          <p:cNvPicPr>
            <a:picLocks noChangeAspect="1"/>
          </p:cNvPicPr>
          <p:nvPr/>
        </p:nvPicPr>
        <p:blipFill>
          <a:blip r:embed="rId2"/>
          <a:stretch>
            <a:fillRect/>
          </a:stretch>
        </p:blipFill>
        <p:spPr>
          <a:xfrm>
            <a:off x="914400" y="1097280"/>
            <a:ext cx="7315200" cy="4114800"/>
          </a:xfrm>
          <a:prstGeom prst="rect">
            <a:avLst/>
          </a:prstGeom>
        </p:spPr>
      </p:pic>
      <p:sp>
        <p:nvSpPr>
          <p:cNvPr id="4" name="TextBox 3"/>
          <p:cNvSpPr txBox="1"/>
          <p:nvPr/>
        </p:nvSpPr>
        <p:spPr>
          <a:xfrm>
            <a:off x="914400" y="4114800"/>
            <a:ext cx="7315200" cy="2560320"/>
          </a:xfrm>
          <a:prstGeom prst="rect">
            <a:avLst/>
          </a:prstGeom>
          <a:noFill/>
        </p:spPr>
        <p:txBody>
          <a:bodyPr wrap="square">
            <a:spAutoFit/>
          </a:bodyPr>
          <a:lstStyle/>
          <a:p/>
          <a:p>
            <a:pPr>
              <a:defRPr b="1" sz="2000"/>
            </a:pPr>
            <a:r>
              <a:t>Jawaban:</a:t>
            </a:r>
          </a:p>
          <a:p>
            <a:pPr>
              <a:defRPr sz="1800"/>
            </a:pPr>
            <a:r>
              <a:t>C. 6</a:t>
            </a:r>
          </a:p>
          <a:p>
            <a:br/>
            <a:pPr>
              <a:defRPr b="1" sz="2000"/>
            </a:pPr>
            <a:r>
              <a:t>Penjelasan:</a:t>
            </a:r>
          </a:p>
          <a:p>
            <a:pPr>
              <a:defRPr sz="1600"/>
            </a:pPr>
            <a:r>
              <a:t>Awal: [2, 4, 6, 8] (Top = 8)</a:t>
            </a:r>
            <a:br/>
            <a:r>
              <a:t>Pop -&gt; [2, 4, 6]</a:t>
            </a:r>
            <a:br/>
            <a:r>
              <a:t>Push 3 -&gt; [2, 4, 6, 3]</a:t>
            </a:r>
            <a:br/>
            <a:r>
              <a:t>Pop -&gt; [2, 4, 6]</a:t>
            </a:r>
            <a:br/>
            <a:r>
              <a:t>Push 4 -&gt; [2, 4, 6, 4]</a:t>
            </a:r>
            <a:br/>
            <a:r>
              <a:t>Push 6 -&gt; [2, 4, 6, 4, 6]</a:t>
            </a:r>
            <a:br/>
            <a:r>
              <a:t>Push 7 -&gt; [2, 4, 6, 4, 6, 7]</a:t>
            </a:r>
            <a:br/>
            <a:r>
              <a:t>Pop -&gt; [2, 4, 6, 4, 6]</a:t>
            </a:r>
            <a:br/>
            <a:r>
              <a:t>Pop -&gt; [2, 4, 6, 4]</a:t>
            </a:r>
            <a:br/>
            <a:r>
              <a:t>Pop -&gt; [2, 4, 6] (Top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2: C# Access Modifier</a:t>
            </a:r>
          </a:p>
        </p:txBody>
      </p:sp>
      <p:pic>
        <p:nvPicPr>
          <p:cNvPr id="3" name="Picture 2" descr="2.jp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2: C# Access Modifier</a:t>
            </a:r>
          </a:p>
        </p:txBody>
      </p:sp>
      <p:pic>
        <p:nvPicPr>
          <p:cNvPr id="3" name="Picture 2" descr="2.jpg"/>
          <p:cNvPicPr>
            <a:picLocks noChangeAspect="1"/>
          </p:cNvPicPr>
          <p:nvPr/>
        </p:nvPicPr>
        <p:blipFill>
          <a:blip r:embed="rId2"/>
          <a:stretch>
            <a:fillRect/>
          </a:stretch>
        </p:blipFill>
        <p:spPr>
          <a:xfrm>
            <a:off x="914400" y="1097280"/>
            <a:ext cx="7315200" cy="4114800"/>
          </a:xfrm>
          <a:prstGeom prst="rect">
            <a:avLst/>
          </a:prstGeom>
        </p:spPr>
      </p:pic>
      <p:sp>
        <p:nvSpPr>
          <p:cNvPr id="4" name="TextBox 3"/>
          <p:cNvSpPr txBox="1"/>
          <p:nvPr/>
        </p:nvSpPr>
        <p:spPr>
          <a:xfrm>
            <a:off x="914400" y="4114800"/>
            <a:ext cx="7315200" cy="2560320"/>
          </a:xfrm>
          <a:prstGeom prst="rect">
            <a:avLst/>
          </a:prstGeom>
          <a:noFill/>
        </p:spPr>
        <p:txBody>
          <a:bodyPr wrap="square">
            <a:spAutoFit/>
          </a:bodyPr>
          <a:lstStyle/>
          <a:p/>
          <a:p>
            <a:pPr>
              <a:defRPr b="1" sz="2000"/>
            </a:pPr>
            <a:r>
              <a:t>Jawaban:</a:t>
            </a:r>
          </a:p>
          <a:p>
            <a:pPr>
              <a:defRPr sz="1800"/>
            </a:pPr>
            <a:r>
              <a:t>C. protected</a:t>
            </a:r>
          </a:p>
          <a:p>
            <a:br/>
            <a:pPr>
              <a:defRPr b="1" sz="2000"/>
            </a:pPr>
            <a:r>
              <a:t>Penjelasan:</a:t>
            </a:r>
          </a:p>
          <a:p>
            <a:pPr>
              <a:defRPr sz="1600"/>
            </a:pPr>
            <a:r>
              <a:t>'protected' membatasi akses hanya di dalam class itu sendiri dan class yang mewarisinya (derived class). 'private' hanya untuk class itu sendiri, 'internal' untuk assembly yang sama, dan 'public' bisa diakses dari mana saja.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3: MVC Architecture</a:t>
            </a:r>
          </a:p>
        </p:txBody>
      </p:sp>
      <p:pic>
        <p:nvPicPr>
          <p:cNvPr id="3" name="Picture 2" descr="3-1.jp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3: MVC Architecture</a:t>
            </a:r>
          </a:p>
        </p:txBody>
      </p:sp>
      <p:pic>
        <p:nvPicPr>
          <p:cNvPr id="3" name="Picture 2" descr="3-1.jpg"/>
          <p:cNvPicPr>
            <a:picLocks noChangeAspect="1"/>
          </p:cNvPicPr>
          <p:nvPr/>
        </p:nvPicPr>
        <p:blipFill>
          <a:blip r:embed="rId2"/>
          <a:stretch>
            <a:fillRect/>
          </a:stretch>
        </p:blipFill>
        <p:spPr>
          <a:xfrm>
            <a:off x="914400" y="1097280"/>
            <a:ext cx="7315200" cy="4114800"/>
          </a:xfrm>
          <a:prstGeom prst="rect">
            <a:avLst/>
          </a:prstGeom>
        </p:spPr>
      </p:pic>
      <p:sp>
        <p:nvSpPr>
          <p:cNvPr id="4" name="TextBox 3"/>
          <p:cNvSpPr txBox="1"/>
          <p:nvPr/>
        </p:nvSpPr>
        <p:spPr>
          <a:xfrm>
            <a:off x="914400" y="4114800"/>
            <a:ext cx="7315200" cy="2560320"/>
          </a:xfrm>
          <a:prstGeom prst="rect">
            <a:avLst/>
          </a:prstGeom>
          <a:noFill/>
        </p:spPr>
        <p:txBody>
          <a:bodyPr wrap="square">
            <a:spAutoFit/>
          </a:bodyPr>
          <a:lstStyle/>
          <a:p/>
          <a:p>
            <a:pPr>
              <a:defRPr b="1" sz="2000"/>
            </a:pPr>
            <a:r>
              <a:t>Jawaban:</a:t>
            </a:r>
          </a:p>
          <a:p>
            <a:pPr>
              <a:defRPr sz="1800"/>
            </a:pPr>
            <a:r>
              <a:t>View -&gt; Controller -&gt; Model -&gt; Controller -&gt; View</a:t>
            </a:r>
          </a:p>
          <a:p>
            <a:br/>
            <a:pPr>
              <a:defRPr b="1" sz="2000"/>
            </a:pPr>
            <a:r>
              <a:t>Penjelasan:</a:t>
            </a:r>
          </a:p>
          <a:p>
            <a:pPr>
              <a:defRPr sz="1600"/>
            </a:pPr>
            <a:r>
              <a:t>Alur standar MVC:</a:t>
            </a:r>
            <a:br/>
            <a:r>
              <a:t>1. View: User clicks button</a:t>
            </a:r>
            <a:br/>
            <a:r>
              <a:t>2. Controller: Converts event into request</a:t>
            </a:r>
            <a:br/>
            <a:r>
              <a:t>3. Model: Validates request, stores data</a:t>
            </a:r>
            <a:br/>
            <a:r>
              <a:t>4. Controller: Interprets and passes data</a:t>
            </a:r>
            <a:br/>
            <a:r>
              <a:t>5. View: Displays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4: NoSQL Document Database</a:t>
            </a:r>
          </a:p>
        </p:txBody>
      </p:sp>
      <p:pic>
        <p:nvPicPr>
          <p:cNvPr id="3" name="Picture 2" descr="4.jp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4: NoSQL Document Database</a:t>
            </a:r>
          </a:p>
        </p:txBody>
      </p:sp>
      <p:pic>
        <p:nvPicPr>
          <p:cNvPr id="3" name="Picture 2" descr="4.jpg"/>
          <p:cNvPicPr>
            <a:picLocks noChangeAspect="1"/>
          </p:cNvPicPr>
          <p:nvPr/>
        </p:nvPicPr>
        <p:blipFill>
          <a:blip r:embed="rId2"/>
          <a:stretch>
            <a:fillRect/>
          </a:stretch>
        </p:blipFill>
        <p:spPr>
          <a:xfrm>
            <a:off x="914400" y="1097280"/>
            <a:ext cx="7315200" cy="4114800"/>
          </a:xfrm>
          <a:prstGeom prst="rect">
            <a:avLst/>
          </a:prstGeom>
        </p:spPr>
      </p:pic>
      <p:sp>
        <p:nvSpPr>
          <p:cNvPr id="4" name="TextBox 3"/>
          <p:cNvSpPr txBox="1"/>
          <p:nvPr/>
        </p:nvSpPr>
        <p:spPr>
          <a:xfrm>
            <a:off x="914400" y="4114800"/>
            <a:ext cx="7315200" cy="2560320"/>
          </a:xfrm>
          <a:prstGeom prst="rect">
            <a:avLst/>
          </a:prstGeom>
          <a:noFill/>
        </p:spPr>
        <p:txBody>
          <a:bodyPr wrap="square">
            <a:spAutoFit/>
          </a:bodyPr>
          <a:lstStyle/>
          <a:p/>
          <a:p>
            <a:pPr>
              <a:defRPr b="1" sz="2000"/>
            </a:pPr>
            <a:r>
              <a:t>Jawaban:</a:t>
            </a:r>
          </a:p>
          <a:p>
            <a:pPr>
              <a:defRPr sz="1800"/>
            </a:pPr>
            <a:r>
              <a:t>C. As XML (atau JSON)</a:t>
            </a:r>
          </a:p>
          <a:p>
            <a:br/>
            <a:pPr>
              <a:defRPr b="1" sz="2000"/>
            </a:pPr>
            <a:r>
              <a:t>Penjelasan:</a:t>
            </a:r>
          </a:p>
          <a:p>
            <a:pPr>
              <a:defRPr sz="1600"/>
            </a:pPr>
            <a:r>
              <a:t>Document database (seperti MongoDB, CouchDB) menyimpan data dalam format dokumen terstruktur seperti JSON, BSON, atau XML. Opsi lain merujuk ke tipe database yang berbeda (Nodes = Graph, Rows/Columns = Relational).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5: Web Service Serialization</a:t>
            </a:r>
          </a:p>
        </p:txBody>
      </p:sp>
      <p:pic>
        <p:nvPicPr>
          <p:cNvPr id="3" name="Picture 2" descr="5.jp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Soal 5: Web Service Serialization</a:t>
            </a:r>
          </a:p>
        </p:txBody>
      </p:sp>
      <p:pic>
        <p:nvPicPr>
          <p:cNvPr id="3" name="Picture 2" descr="5.jpg"/>
          <p:cNvPicPr>
            <a:picLocks noChangeAspect="1"/>
          </p:cNvPicPr>
          <p:nvPr/>
        </p:nvPicPr>
        <p:blipFill>
          <a:blip r:embed="rId2"/>
          <a:stretch>
            <a:fillRect/>
          </a:stretch>
        </p:blipFill>
        <p:spPr>
          <a:xfrm>
            <a:off x="914400" y="1097280"/>
            <a:ext cx="7315200" cy="4114800"/>
          </a:xfrm>
          <a:prstGeom prst="rect">
            <a:avLst/>
          </a:prstGeom>
        </p:spPr>
      </p:pic>
      <p:sp>
        <p:nvSpPr>
          <p:cNvPr id="4" name="TextBox 3"/>
          <p:cNvSpPr txBox="1"/>
          <p:nvPr/>
        </p:nvSpPr>
        <p:spPr>
          <a:xfrm>
            <a:off x="914400" y="4114800"/>
            <a:ext cx="7315200" cy="2560320"/>
          </a:xfrm>
          <a:prstGeom prst="rect">
            <a:avLst/>
          </a:prstGeom>
          <a:noFill/>
        </p:spPr>
        <p:txBody>
          <a:bodyPr wrap="square">
            <a:spAutoFit/>
          </a:bodyPr>
          <a:lstStyle/>
          <a:p/>
          <a:p>
            <a:pPr>
              <a:defRPr b="1" sz="2000"/>
            </a:pPr>
            <a:r>
              <a:t>Jawaban:</a:t>
            </a:r>
          </a:p>
          <a:p>
            <a:pPr>
              <a:defRPr sz="1800"/>
            </a:pPr>
            <a:r>
              <a:t>B. Serialization</a:t>
            </a:r>
          </a:p>
          <a:p>
            <a:br/>
            <a:pPr>
              <a:defRPr b="1" sz="2000"/>
            </a:pPr>
            <a:r>
              <a:t>Penjelasan:</a:t>
            </a:r>
          </a:p>
          <a:p>
            <a:pPr>
              <a:defRPr sz="1600"/>
            </a:pPr>
            <a:r>
              <a:t>Serialisasi (Serialization) adalah proses menerjemahkan struktur data atau state dari sebuah objek menjadi format yang dapat disimpan atau ditransmisikan (seperti XML atau JSON). Proses sebaliknya disebut Deserialization.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